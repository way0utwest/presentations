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notesMasterIdLst>
    <p:notesMasterId r:id="rId26"/>
  </p:notesMasterIdLst>
  <p:handoutMasterIdLst>
    <p:handoutMasterId r:id="rId27"/>
  </p:handoutMasterIdLst>
  <p:sldIdLst>
    <p:sldId id="256" r:id="rId2"/>
    <p:sldId id="261" r:id="rId3"/>
    <p:sldId id="272" r:id="rId4"/>
    <p:sldId id="274" r:id="rId5"/>
    <p:sldId id="268" r:id="rId6"/>
    <p:sldId id="279" r:id="rId7"/>
    <p:sldId id="266" r:id="rId8"/>
    <p:sldId id="267" r:id="rId9"/>
    <p:sldId id="262" r:id="rId10"/>
    <p:sldId id="292" r:id="rId11"/>
    <p:sldId id="305" r:id="rId12"/>
    <p:sldId id="295" r:id="rId13"/>
    <p:sldId id="293" r:id="rId14"/>
    <p:sldId id="306" r:id="rId15"/>
    <p:sldId id="294" r:id="rId16"/>
    <p:sldId id="297" r:id="rId17"/>
    <p:sldId id="298" r:id="rId18"/>
    <p:sldId id="301" r:id="rId19"/>
    <p:sldId id="307" r:id="rId20"/>
    <p:sldId id="299" r:id="rId21"/>
    <p:sldId id="300" r:id="rId22"/>
    <p:sldId id="304" r:id="rId23"/>
    <p:sldId id="289" r:id="rId24"/>
    <p:sldId id="290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00"/>
    <a:srgbClr val="0099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046" autoAdjust="0"/>
  </p:normalViewPr>
  <p:slideViewPr>
    <p:cSldViewPr snapToGrid="0" snapToObjects="1" showGuides="1">
      <p:cViewPr>
        <p:scale>
          <a:sx n="66" d="100"/>
          <a:sy n="66" d="100"/>
        </p:scale>
        <p:origin x="-1494" y="2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23" d="100"/>
          <a:sy n="123" d="100"/>
        </p:scale>
        <p:origin x="-4704" y="-11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0FB039-A863-1948-B2EE-9026332A9C0B}" type="datetimeFigureOut">
              <a:rPr lang="en-US" smtClean="0"/>
              <a:t>7/2/2013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417D4C-358E-6A40-ABD0-78E9598A4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69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0A451F-26B7-424C-9998-253AE7240709}" type="datetimeFigureOut">
              <a:rPr lang="en-US" smtClean="0"/>
              <a:t>7/2/2013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FE0556-36F6-B243-8FCD-1683CAD58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053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FE0556-36F6-B243-8FCD-1683CAD586D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031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Ther</a:t>
            </a:r>
            <a:r>
              <a:rPr lang="en-GB" baseline="0" dirty="0" smtClean="0"/>
              <a:t>e are pre-</a:t>
            </a:r>
            <a:r>
              <a:rPr lang="en-GB" baseline="0" dirty="0" err="1" smtClean="0"/>
              <a:t>dev</a:t>
            </a:r>
            <a:r>
              <a:rPr lang="en-GB" baseline="0" dirty="0" smtClean="0"/>
              <a:t> phases where testing could also happen –requirements analysis, architecture, functional specification.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FE0556-36F6-B243-8FCD-1683CAD586D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134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FE0556-36F6-B243-8FCD-1683CAD586D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9187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aseline="0" dirty="0" smtClean="0"/>
              <a:t>CI server is set up by one person and the whole team of developers benefits.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720061-F957-4E42-8046-7FAD0A00088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3348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testing of deployment scripts is customarily left to the end.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=&gt; Issues with upgrades only found at the end of a project.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FE0556-36F6-B243-8FCD-1683CAD586D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8890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Although</a:t>
            </a:r>
            <a:r>
              <a:rPr lang="en-GB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CI c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atches issues that arise when developers have failed run tests locally, also solving a different problem:</a:t>
            </a:r>
          </a:p>
          <a:p>
            <a:pPr lvl="0"/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Two incompatible changes committed by different developers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“Works on my machine” in development.</a:t>
            </a:r>
          </a:p>
          <a:p>
            <a:pPr lvl="0"/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Issues that only arise in more realistic integration environments.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FE0556-36F6-B243-8FCD-1683CAD586D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879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aseline="0" dirty="0" smtClean="0"/>
              <a:t>Show of hands for SQL Developer Bundle.</a:t>
            </a:r>
          </a:p>
          <a:p>
            <a:r>
              <a:rPr lang="en-GB" baseline="0" dirty="0" err="1" smtClean="0"/>
              <a:t>TeamCity</a:t>
            </a:r>
            <a:r>
              <a:rPr lang="en-GB" baseline="0" dirty="0" smtClean="0"/>
              <a:t> is used at Red Gate but *any* build server can be used, </a:t>
            </a:r>
            <a:r>
              <a:rPr lang="en-GB" baseline="0" dirty="0" err="1" smtClean="0"/>
              <a:t>eg</a:t>
            </a:r>
            <a:r>
              <a:rPr lang="en-GB" baseline="0" dirty="0" smtClean="0"/>
              <a:t>:</a:t>
            </a:r>
          </a:p>
          <a:p>
            <a:r>
              <a:rPr lang="en-GB" baseline="0" dirty="0" smtClean="0"/>
              <a:t>Jenkins, Hudson, TFS Build, </a:t>
            </a:r>
            <a:r>
              <a:rPr lang="en-GB" baseline="0" dirty="0" err="1" smtClean="0"/>
              <a:t>CruiseControl</a:t>
            </a:r>
            <a:r>
              <a:rPr lang="en-GB" baseline="0" dirty="0" smtClean="0"/>
              <a:t>, Bamboo, etc.</a:t>
            </a:r>
          </a:p>
          <a:p>
            <a:r>
              <a:rPr lang="en-GB" baseline="0" dirty="0" smtClean="0"/>
              <a:t>There is a sqlci.exe command line, and </a:t>
            </a:r>
            <a:r>
              <a:rPr lang="en-GB" baseline="0" dirty="0" err="1" smtClean="0"/>
              <a:t>NAnt</a:t>
            </a:r>
            <a:r>
              <a:rPr lang="en-GB" baseline="0" dirty="0" smtClean="0"/>
              <a:t> and </a:t>
            </a:r>
            <a:r>
              <a:rPr lang="en-GB" baseline="0" dirty="0" err="1" smtClean="0"/>
              <a:t>MSBuild</a:t>
            </a:r>
            <a:r>
              <a:rPr lang="en-GB" baseline="0" dirty="0" smtClean="0"/>
              <a:t> template wrappers available.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FE0556-36F6-B243-8FCD-1683CAD586D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914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 smtClean="0"/>
              <a:t>TeamCity</a:t>
            </a:r>
            <a:r>
              <a:rPr lang="en-GB" baseline="0" dirty="0" smtClean="0"/>
              <a:t> configuration is done!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FE0556-36F6-B243-8FCD-1683CAD586D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360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smtClean="0">
                <a:latin typeface="Cachet Pro Book" pitchFamily="34" charset="0"/>
              </a:rPr>
              <a:t>Creates database packages, used for reliable and repeatable</a:t>
            </a:r>
            <a:r>
              <a:rPr lang="en-GB" baseline="0" dirty="0" smtClean="0">
                <a:latin typeface="Cachet Pro Book" pitchFamily="34" charset="0"/>
              </a:rPr>
              <a:t> deployments</a:t>
            </a:r>
            <a:endParaRPr lang="en-GB" dirty="0" smtClean="0">
              <a:latin typeface="Cachet Pro Book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FE0556-36F6-B243-8FCD-1683CAD586D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045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We’ve </a:t>
            </a:r>
            <a:r>
              <a:rPr lang="en-GB" dirty="0" smtClean="0"/>
              <a:t>covered:</a:t>
            </a:r>
            <a:endParaRPr lang="en-GB" dirty="0" smtClean="0"/>
          </a:p>
          <a:p>
            <a:pPr marL="171450" indent="-171450">
              <a:buFontTx/>
              <a:buChar char="-"/>
            </a:pPr>
            <a:r>
              <a:rPr lang="en-GB" dirty="0" smtClean="0"/>
              <a:t>How to create a new build in </a:t>
            </a:r>
            <a:r>
              <a:rPr lang="en-GB" dirty="0" err="1" smtClean="0"/>
              <a:t>TeamCity</a:t>
            </a:r>
            <a:r>
              <a:rPr lang="en-GB" dirty="0" smtClean="0"/>
              <a:t> from scratch</a:t>
            </a:r>
          </a:p>
          <a:p>
            <a:pPr marL="171450" indent="-171450">
              <a:buFontTx/>
              <a:buChar char="-"/>
            </a:pPr>
            <a:r>
              <a:rPr lang="en-GB" dirty="0" smtClean="0"/>
              <a:t>(including VCS root, build trigger)</a:t>
            </a:r>
          </a:p>
          <a:p>
            <a:pPr marL="171450" indent="-171450">
              <a:buFontTx/>
              <a:buChar char="-"/>
            </a:pPr>
            <a:r>
              <a:rPr lang="en-GB" dirty="0" smtClean="0"/>
              <a:t>How</a:t>
            </a:r>
            <a:r>
              <a:rPr lang="en-GB" baseline="0" dirty="0" smtClean="0"/>
              <a:t> to use Red Gate’s plugin for SQL CI.</a:t>
            </a:r>
          </a:p>
          <a:p>
            <a:pPr marL="628650" lvl="1" indent="-171450">
              <a:buFontTx/>
              <a:buChar char="-"/>
            </a:pPr>
            <a:r>
              <a:rPr lang="en-GB" baseline="0" dirty="0" smtClean="0"/>
              <a:t>Keeping a database up to date</a:t>
            </a:r>
          </a:p>
          <a:p>
            <a:pPr marL="628650" lvl="1" indent="-171450">
              <a:buFontTx/>
              <a:buChar char="-"/>
            </a:pPr>
            <a:r>
              <a:rPr lang="en-GB" baseline="0" dirty="0" smtClean="0"/>
              <a:t>Testing a database with </a:t>
            </a:r>
            <a:r>
              <a:rPr lang="en-GB" baseline="0" dirty="0" err="1" smtClean="0"/>
              <a:t>tSQLt</a:t>
            </a:r>
            <a:endParaRPr lang="en-GB" baseline="0" dirty="0" smtClean="0"/>
          </a:p>
          <a:p>
            <a:pPr marL="628650" lvl="1" indent="-171450">
              <a:buFontTx/>
              <a:buChar char="-"/>
            </a:pPr>
            <a:r>
              <a:rPr lang="en-GB" baseline="0" dirty="0" smtClean="0"/>
              <a:t>Generating data</a:t>
            </a:r>
          </a:p>
          <a:p>
            <a:pPr marL="628650" lvl="1" indent="-171450">
              <a:buFontTx/>
              <a:buChar char="-"/>
            </a:pPr>
            <a:r>
              <a:rPr lang="en-GB" baseline="0" dirty="0" smtClean="0"/>
              <a:t>Publishing documentation</a:t>
            </a:r>
          </a:p>
          <a:p>
            <a:pPr marL="628650" lvl="1" indent="-171450">
              <a:buFontTx/>
              <a:buChar char="-"/>
            </a:pPr>
            <a:r>
              <a:rPr lang="en-GB" dirty="0" smtClean="0"/>
              <a:t>Building the deployments scripts</a:t>
            </a:r>
            <a:r>
              <a:rPr lang="en-GB" baseline="0" dirty="0" smtClean="0"/>
              <a:t> (creation and upgrade)</a:t>
            </a:r>
          </a:p>
          <a:p>
            <a:pPr marL="628650" lvl="1" indent="-171450">
              <a:buFontTx/>
              <a:buChar char="-"/>
            </a:pPr>
            <a:r>
              <a:rPr lang="en-GB" baseline="0" dirty="0" smtClean="0"/>
              <a:t>Building a database package that can be consumed by Deployment Manager.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FE0556-36F6-B243-8FCD-1683CAD586D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61864"/>
            <a:ext cx="7772400" cy="93858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23132"/>
            <a:ext cx="6400800" cy="125264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CBC2-EFEA-824D-9B02-0FE8BCB5A938}" type="datetimeFigureOut">
              <a:rPr lang="en-US" smtClean="0"/>
              <a:t>7/2/2013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07AB-2532-4947-A647-9C2AD87A7D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CBC2-EFEA-824D-9B02-0FE8BCB5A938}" type="datetimeFigureOut">
              <a:rPr lang="en-US" smtClean="0"/>
              <a:t>7/2/2013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07AB-2532-4947-A647-9C2AD87A7D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CBC2-EFEA-824D-9B02-0FE8BCB5A938}" type="datetimeFigureOut">
              <a:rPr lang="en-US" smtClean="0"/>
              <a:t>7/2/2013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07AB-2532-4947-A647-9C2AD87A7D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CBC2-EFEA-824D-9B02-0FE8BCB5A938}" type="datetimeFigureOut">
              <a:rPr lang="en-US" smtClean="0"/>
              <a:t>7/2/2013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07AB-2532-4947-A647-9C2AD87A7D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CBC2-EFEA-824D-9B02-0FE8BCB5A938}" type="datetimeFigureOut">
              <a:rPr lang="en-US" smtClean="0"/>
              <a:t>7/2/2013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07AB-2532-4947-A647-9C2AD87A7D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CBC2-EFEA-824D-9B02-0FE8BCB5A938}" type="datetimeFigureOut">
              <a:rPr lang="en-US" smtClean="0"/>
              <a:t>7/2/2013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07AB-2532-4947-A647-9C2AD87A7D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CBC2-EFEA-824D-9B02-0FE8BCB5A938}" type="datetimeFigureOut">
              <a:rPr lang="en-US" smtClean="0"/>
              <a:t>7/2/2013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07AB-2532-4947-A647-9C2AD87A7D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CBC2-EFEA-824D-9B02-0FE8BCB5A938}" type="datetimeFigureOut">
              <a:rPr lang="en-US" smtClean="0"/>
              <a:t>7/2/2013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07AB-2532-4947-A647-9C2AD87A7D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smtClean="0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CBC2-EFEA-824D-9B02-0FE8BCB5A938}" type="datetimeFigureOut">
              <a:rPr lang="en-US" smtClean="0"/>
              <a:t>7/2/2013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07AB-2532-4947-A647-9C2AD87A7D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CBC2-EFEA-824D-9B02-0FE8BCB5A938}" type="datetimeFigureOut">
              <a:rPr lang="en-US" smtClean="0"/>
              <a:t>7/2/2013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07AB-2532-4947-A647-9C2AD87A7D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CBC2-EFEA-824D-9B02-0FE8BCB5A938}" type="datetimeFigureOut">
              <a:rPr lang="en-US" smtClean="0"/>
              <a:t>7/2/2013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07AB-2532-4947-A647-9C2AD87A7D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9CBC2-EFEA-824D-9B02-0FE8BCB5A938}" type="datetimeFigureOut">
              <a:rPr lang="en-US" smtClean="0"/>
              <a:t>7/2/2013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307AB-2532-4947-A647-9C2AD87A7D1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800" b="1" i="0" kern="1200">
          <a:solidFill>
            <a:schemeClr val="bg1">
              <a:lumMod val="50000"/>
            </a:schemeClr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2759432"/>
            <a:ext cx="7772400" cy="669568"/>
          </a:xfrm>
        </p:spPr>
        <p:txBody>
          <a:bodyPr>
            <a:normAutofit/>
          </a:bodyPr>
          <a:lstStyle/>
          <a:p>
            <a:r>
              <a:rPr lang="en-GB" sz="3600" b="0" dirty="0">
                <a:latin typeface="Cachet Pro Medium" pitchFamily="34" charset="0"/>
              </a:rPr>
              <a:t>Automated Build and </a:t>
            </a:r>
            <a:r>
              <a:rPr lang="en-GB" sz="3600" b="0" dirty="0" smtClean="0">
                <a:latin typeface="Cachet Pro Medium" pitchFamily="34" charset="0"/>
              </a:rPr>
              <a:t>Test	</a:t>
            </a:r>
            <a:endParaRPr lang="en-US" sz="4000" b="0" dirty="0">
              <a:latin typeface="Cachet Pro Medium" pitchFamily="34" charset="0"/>
              <a:cs typeface="Cachet Pro Bold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71600" y="3599674"/>
            <a:ext cx="6400800" cy="1173236"/>
          </a:xfrm>
        </p:spPr>
        <p:txBody>
          <a:bodyPr/>
          <a:lstStyle/>
          <a:p>
            <a:r>
              <a:rPr lang="en-US" dirty="0" smtClean="0">
                <a:latin typeface="Cachet Pro Book" pitchFamily="34" charset="0"/>
                <a:cs typeface="Cachet Pro Book"/>
              </a:rPr>
              <a:t>David Atkinson</a:t>
            </a:r>
          </a:p>
          <a:p>
            <a:r>
              <a:rPr lang="en-US" sz="2400" dirty="0" smtClean="0">
                <a:latin typeface="Cachet Pro Book" pitchFamily="34" charset="0"/>
                <a:cs typeface="Cachet Pro Book"/>
              </a:rPr>
              <a:t>Product Manager, Red Gate</a:t>
            </a:r>
            <a:endParaRPr lang="en-US" sz="2400" dirty="0">
              <a:latin typeface="Cachet Pro Book" pitchFamily="34" charset="0"/>
              <a:cs typeface="Cachet Pro Book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538" y="448630"/>
            <a:ext cx="1519255" cy="1215404"/>
          </a:xfrm>
          <a:prstGeom prst="rect">
            <a:avLst/>
          </a:prstGeom>
        </p:spPr>
      </p:pic>
      <p:sp>
        <p:nvSpPr>
          <p:cNvPr id="6" name="Subtitle 4"/>
          <p:cNvSpPr txBox="1">
            <a:spLocks/>
          </p:cNvSpPr>
          <p:nvPr/>
        </p:nvSpPr>
        <p:spPr>
          <a:xfrm>
            <a:off x="7611806" y="157880"/>
            <a:ext cx="1360129" cy="409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chet Pro Book"/>
                <a:cs typeface="Cachet Pro Book"/>
              </a:rPr>
              <a:t>#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achet Pro Book"/>
                <a:cs typeface="Cachet Pro Book"/>
              </a:rPr>
              <a:t>sqlinthecity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achet Pro Book"/>
              <a:cs typeface="Cachet Pro Book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4538" y="1868845"/>
            <a:ext cx="1519255" cy="4333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 smtClean="0">
                <a:latin typeface="Cachet Pro Medium" pitchFamily="34" charset="0"/>
                <a:cs typeface="Cachet Pro Bold"/>
              </a:rPr>
              <a:t>Goals</a:t>
            </a:r>
            <a:endParaRPr lang="en-GB" b="0" dirty="0">
              <a:latin typeface="Cachet Pro Medium" pitchFamily="34" charset="0"/>
              <a:cs typeface="Cachet Pro 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>
                <a:latin typeface="Cachet Pro Book" pitchFamily="34" charset="0"/>
                <a:cs typeface="Cachet Pro Book"/>
              </a:rPr>
              <a:t>Why continuous integration? How to automate the building and testing of your database</a:t>
            </a:r>
          </a:p>
          <a:p>
            <a:r>
              <a:rPr lang="en-GB" dirty="0" smtClean="0">
                <a:latin typeface="Cachet Pro Book" pitchFamily="34" charset="0"/>
                <a:cs typeface="Cachet Pro Book"/>
              </a:rPr>
              <a:t>Learn about the tools you need</a:t>
            </a:r>
          </a:p>
          <a:p>
            <a:r>
              <a:rPr lang="en-GB" dirty="0" smtClean="0">
                <a:latin typeface="Cachet Pro Book" pitchFamily="34" charset="0"/>
                <a:cs typeface="Cachet Pro Book"/>
              </a:rPr>
              <a:t>Demo</a:t>
            </a:r>
          </a:p>
          <a:p>
            <a:pPr marL="0" indent="0" algn="ctr">
              <a:buNone/>
            </a:pPr>
            <a:endParaRPr lang="en-GB" dirty="0" smtClean="0">
              <a:latin typeface="Cachet Pro Book" pitchFamily="34" charset="0"/>
              <a:cs typeface="Cachet Pro Book"/>
            </a:endParaRPr>
          </a:p>
          <a:p>
            <a:pPr marL="0" indent="0" algn="ctr">
              <a:buNone/>
            </a:pPr>
            <a:r>
              <a:rPr lang="en-GB" sz="3200" dirty="0" smtClean="0">
                <a:latin typeface="Cachet Pro Book" pitchFamily="34" charset="0"/>
                <a:cs typeface="Cachet Pro Book"/>
              </a:rPr>
              <a:t>Do feel free to ask questions!</a:t>
            </a:r>
            <a:endParaRPr lang="en-GB" sz="3200" dirty="0">
              <a:latin typeface="Cachet Pro Book" pitchFamily="34" charset="0"/>
              <a:cs typeface="Cachet Pro Book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7679" y="6268780"/>
            <a:ext cx="1519255" cy="433344"/>
          </a:xfrm>
          <a:prstGeom prst="rect">
            <a:avLst/>
          </a:prstGeom>
        </p:spPr>
      </p:pic>
      <p:sp>
        <p:nvSpPr>
          <p:cNvPr id="6" name="Subtitle 4"/>
          <p:cNvSpPr txBox="1">
            <a:spLocks/>
          </p:cNvSpPr>
          <p:nvPr/>
        </p:nvSpPr>
        <p:spPr>
          <a:xfrm>
            <a:off x="7611806" y="157880"/>
            <a:ext cx="1360129" cy="409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chet Pro Book"/>
                <a:cs typeface="Cachet Pro Book"/>
              </a:rPr>
              <a:t>#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achet Pro Book"/>
                <a:cs typeface="Cachet Pro Book"/>
              </a:rPr>
              <a:t>sqlinthecity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achet Pro Book"/>
              <a:cs typeface="Cachet Pro Book"/>
            </a:endParaRPr>
          </a:p>
        </p:txBody>
      </p:sp>
    </p:spTree>
    <p:extLst>
      <p:ext uri="{BB962C8B-B14F-4D97-AF65-F5344CB8AC3E}">
        <p14:creationId xmlns:p14="http://schemas.microsoft.com/office/powerpoint/2010/main" val="383535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smtClean="0">
                <a:latin typeface="Cachet Pro Medium" pitchFamily="34" charset="0"/>
              </a:rPr>
              <a:t>Where does testing happen?</a:t>
            </a:r>
            <a:endParaRPr lang="en-US" b="0" dirty="0">
              <a:latin typeface="Cachet Pro Medium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achet Pro Book" pitchFamily="34" charset="0"/>
              </a:rPr>
              <a:t>Testing isn’t just done in QA</a:t>
            </a:r>
          </a:p>
          <a:p>
            <a:r>
              <a:rPr lang="en-US" dirty="0" smtClean="0">
                <a:latin typeface="Cachet Pro Book" pitchFamily="34" charset="0"/>
              </a:rPr>
              <a:t>Be aware of the cost of fixing a bug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201" y="3038962"/>
            <a:ext cx="4096173" cy="2572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775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38514"/>
            <a:ext cx="8229600" cy="4587649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Cachet Pro Book" pitchFamily="34" charset="0"/>
              </a:rPr>
              <a:t>No inter-team interactions</a:t>
            </a:r>
          </a:p>
          <a:p>
            <a:r>
              <a:rPr lang="en-US" dirty="0" smtClean="0">
                <a:latin typeface="Cachet Pro Book" pitchFamily="34" charset="0"/>
              </a:rPr>
              <a:t>Changes are discrete</a:t>
            </a:r>
          </a:p>
          <a:p>
            <a:r>
              <a:rPr lang="en-US" dirty="0">
                <a:latin typeface="Cachet Pro Book" pitchFamily="34" charset="0"/>
              </a:rPr>
              <a:t>I</a:t>
            </a:r>
            <a:r>
              <a:rPr lang="en-US" dirty="0" smtClean="0">
                <a:latin typeface="Cachet Pro Book" pitchFamily="34" charset="0"/>
              </a:rPr>
              <a:t>ncreased frequency of changes</a:t>
            </a:r>
            <a:endParaRPr lang="en-US" dirty="0">
              <a:latin typeface="Cachet Pro Book" pitchFamily="34" charset="0"/>
            </a:endParaRPr>
          </a:p>
          <a:p>
            <a:pPr marL="0" indent="0">
              <a:buNone/>
            </a:pPr>
            <a:endParaRPr lang="en-US" dirty="0">
              <a:latin typeface="Cachet Pro Book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089" y="3470027"/>
            <a:ext cx="1389773" cy="932611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b="0" dirty="0" smtClean="0">
                <a:latin typeface="Cachet Pro Medium" pitchFamily="34" charset="0"/>
              </a:rPr>
              <a:t>Testing in Development</a:t>
            </a:r>
            <a:endParaRPr lang="en-US" b="0" dirty="0">
              <a:latin typeface="Cachet Pro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245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>
              <a:latin typeface="Cachet Pro Boo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450802"/>
          </a:xfrm>
        </p:spPr>
        <p:txBody>
          <a:bodyPr>
            <a:normAutofit/>
          </a:bodyPr>
          <a:lstStyle/>
          <a:p>
            <a:endParaRPr lang="en-US" sz="2400" dirty="0">
              <a:latin typeface="Cachet Pro Book" pitchFamily="34" charset="0"/>
              <a:cs typeface="Arial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171" y="5135088"/>
            <a:ext cx="1260430" cy="1008344"/>
          </a:xfrm>
          <a:prstGeom prst="rect">
            <a:avLst/>
          </a:prstGeom>
        </p:spPr>
      </p:pic>
      <p:sp>
        <p:nvSpPr>
          <p:cNvPr id="6" name="Subtitle 4"/>
          <p:cNvSpPr txBox="1">
            <a:spLocks/>
          </p:cNvSpPr>
          <p:nvPr/>
        </p:nvSpPr>
        <p:spPr>
          <a:xfrm>
            <a:off x="8028102" y="157880"/>
            <a:ext cx="816516" cy="40918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chet Pro Book" pitchFamily="34" charset="0"/>
              </a:rPr>
              <a:t>#sqlcity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achet Pro Book" pitchFamily="34" charset="0"/>
              <a:cs typeface="Arial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05091" y="1599796"/>
            <a:ext cx="7723573" cy="2430262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mtClean="0">
                <a:latin typeface="Cachet Pro Book" pitchFamily="34" charset="0"/>
              </a:rPr>
              <a:t>	“</a:t>
            </a:r>
            <a:r>
              <a:rPr lang="en-US" smtClean="0">
                <a:solidFill>
                  <a:srgbClr val="FF0000"/>
                </a:solidFill>
                <a:latin typeface="Cachet Pro Book" pitchFamily="34" charset="0"/>
              </a:rPr>
              <a:t>Database</a:t>
            </a:r>
            <a:r>
              <a:rPr lang="en-US" smtClean="0">
                <a:latin typeface="Cachet Pro Book" pitchFamily="34" charset="0"/>
              </a:rPr>
              <a:t> Continuous Integration is a </a:t>
            </a:r>
            <a:r>
              <a:rPr lang="en-US" i="1" smtClean="0">
                <a:latin typeface="Cachet Pro Book" pitchFamily="34" charset="0"/>
              </a:rPr>
              <a:t>practice</a:t>
            </a:r>
            <a:r>
              <a:rPr lang="en-US" smtClean="0">
                <a:latin typeface="Cachet Pro Book" pitchFamily="34" charset="0"/>
              </a:rPr>
              <a:t> designed to ensure that your </a:t>
            </a:r>
            <a:r>
              <a:rPr lang="en-US" smtClean="0">
                <a:solidFill>
                  <a:srgbClr val="FF0000"/>
                </a:solidFill>
                <a:latin typeface="Cachet Pro Book" pitchFamily="34" charset="0"/>
              </a:rPr>
              <a:t>database</a:t>
            </a:r>
            <a:r>
              <a:rPr lang="en-US" smtClean="0">
                <a:latin typeface="Cachet Pro Book" pitchFamily="34" charset="0"/>
              </a:rPr>
              <a:t> </a:t>
            </a:r>
            <a:r>
              <a:rPr lang="en-US" strike="sngStrike" smtClean="0">
                <a:latin typeface="Cachet Pro Book" pitchFamily="34" charset="0"/>
              </a:rPr>
              <a:t>software</a:t>
            </a:r>
            <a:r>
              <a:rPr lang="en-US" smtClean="0">
                <a:latin typeface="Cachet Pro Book" pitchFamily="34" charset="0"/>
              </a:rPr>
              <a:t> is always working, and that you get comprehensive feedback in a few minutes as to whether any given change to your system has broken it.”</a:t>
            </a:r>
          </a:p>
          <a:p>
            <a:pPr marL="0" indent="0" algn="ctr">
              <a:buFont typeface="Arial"/>
              <a:buNone/>
            </a:pPr>
            <a:endParaRPr lang="en-US" smtClean="0">
              <a:latin typeface="Cachet Pro Book" pitchFamily="34" charset="0"/>
            </a:endParaRPr>
          </a:p>
          <a:p>
            <a:pPr marL="457200" lvl="1" indent="0">
              <a:buFont typeface="Arial"/>
              <a:buNone/>
            </a:pPr>
            <a:endParaRPr lang="en-GB" dirty="0">
              <a:latin typeface="Cachet Pro Book" pitchFamily="34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778500" y="1593138"/>
            <a:ext cx="7723573" cy="2430262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dirty="0" smtClean="0">
                <a:latin typeface="Cachet Pro Book" pitchFamily="34" charset="0"/>
              </a:rPr>
              <a:t>	“Continuous Integration is a </a:t>
            </a:r>
            <a:r>
              <a:rPr lang="en-US" i="1" dirty="0" smtClean="0">
                <a:latin typeface="Cachet Pro Book" pitchFamily="34" charset="0"/>
              </a:rPr>
              <a:t>practice</a:t>
            </a:r>
            <a:r>
              <a:rPr lang="en-US" dirty="0" smtClean="0">
                <a:latin typeface="Cachet Pro Book" pitchFamily="34" charset="0"/>
              </a:rPr>
              <a:t> designed to ensure that your software is always working, and that you get comprehensive feedback in a few minutes as to whether any given change to your system has broken it.”</a:t>
            </a:r>
          </a:p>
          <a:p>
            <a:pPr marL="0" indent="0" algn="ctr">
              <a:buFont typeface="Arial"/>
              <a:buNone/>
            </a:pPr>
            <a:endParaRPr lang="en-US" dirty="0" smtClean="0">
              <a:latin typeface="Cachet Pro Book" pitchFamily="34" charset="0"/>
            </a:endParaRPr>
          </a:p>
          <a:p>
            <a:pPr marL="457200" lvl="1" indent="0">
              <a:buFont typeface="Arial"/>
              <a:buNone/>
            </a:pPr>
            <a:endParaRPr lang="en-GB" dirty="0">
              <a:latin typeface="Cachet Pro Book" pitchFamily="34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800" b="1" i="0" kern="1200">
                <a:solidFill>
                  <a:schemeClr val="bg1">
                    <a:lumMod val="50000"/>
                  </a:schemeClr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GB" b="0" dirty="0" smtClean="0">
                <a:latin typeface="Cachet Pro Medium" pitchFamily="34" charset="0"/>
              </a:rPr>
              <a:t>What is continuous integration?</a:t>
            </a:r>
            <a:endParaRPr lang="en-GB" b="0" dirty="0">
              <a:latin typeface="Cachet Pro Medium" pitchFamily="34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118589" y="203044"/>
            <a:ext cx="2441357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800" b="1" i="0" kern="1200">
                <a:solidFill>
                  <a:schemeClr val="bg1">
                    <a:lumMod val="50000"/>
                  </a:schemeClr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GB" sz="2800" dirty="0" smtClean="0">
                <a:solidFill>
                  <a:srgbClr val="FF0000"/>
                </a:solidFill>
                <a:latin typeface="Cachet Pro Book" pitchFamily="34" charset="0"/>
              </a:rPr>
              <a:t>database</a:t>
            </a:r>
          </a:p>
          <a:p>
            <a:endParaRPr lang="en-GB" sz="2800" dirty="0" smtClean="0">
              <a:solidFill>
                <a:srgbClr val="FF0000"/>
              </a:solidFill>
              <a:latin typeface="Cachet Pro Book" pitchFamily="34" charset="0"/>
            </a:endParaRPr>
          </a:p>
          <a:p>
            <a:pPr algn="ctr"/>
            <a:r>
              <a:rPr lang="en-GB" sz="2800" dirty="0" smtClean="0">
                <a:solidFill>
                  <a:srgbClr val="FF0000"/>
                </a:solidFill>
                <a:latin typeface="Cachet Pro Book" pitchFamily="34" charset="0"/>
              </a:rPr>
              <a:t>^</a:t>
            </a:r>
            <a:endParaRPr lang="en-GB" sz="2800" dirty="0">
              <a:solidFill>
                <a:srgbClr val="FF0000"/>
              </a:solidFill>
              <a:latin typeface="Cachet Pro Book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67991" y="4148092"/>
            <a:ext cx="4039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Cachet Pro Book" pitchFamily="34" charset="0"/>
              </a:rPr>
              <a:t>Jez</a:t>
            </a:r>
            <a:r>
              <a:rPr lang="en-US" dirty="0">
                <a:latin typeface="Cachet Pro Book" pitchFamily="34" charset="0"/>
              </a:rPr>
              <a:t> Humble, </a:t>
            </a:r>
            <a:r>
              <a:rPr lang="en-US" dirty="0" err="1" smtClean="0">
                <a:latin typeface="Cachet Pro Book" pitchFamily="34" charset="0"/>
              </a:rPr>
              <a:t>ThoughtWorks</a:t>
            </a:r>
            <a:r>
              <a:rPr lang="en-US" dirty="0" smtClean="0">
                <a:latin typeface="Cachet Pro Book" pitchFamily="34" charset="0"/>
              </a:rPr>
              <a:t>, author of “Continuous Delivery”</a:t>
            </a:r>
            <a:endParaRPr lang="en-GB" dirty="0">
              <a:latin typeface="Cachet Pro Boo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6048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  <p:bldP spid="8" grpId="1"/>
      <p:bldP spid="10" grpId="0"/>
      <p:bldP spid="11" grpId="0"/>
      <p:bldP spid="11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21894" y="171134"/>
            <a:ext cx="8640960" cy="638944"/>
          </a:xfrm>
        </p:spPr>
        <p:txBody>
          <a:bodyPr>
            <a:normAutofit fontScale="90000"/>
          </a:bodyPr>
          <a:lstStyle/>
          <a:p>
            <a:pPr algn="ctr"/>
            <a:r>
              <a:rPr lang="en-GB" b="0" dirty="0" smtClean="0">
                <a:latin typeface="Cachet Pro Medium" pitchFamily="34" charset="0"/>
              </a:rPr>
              <a:t>Database Continuous Integration</a:t>
            </a:r>
            <a:endParaRPr lang="en-GB" b="0" dirty="0">
              <a:latin typeface="Cachet Pro Medium" pitchFamily="34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202" y="1462031"/>
            <a:ext cx="5314950" cy="395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0902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0" dirty="0" smtClean="0">
                <a:latin typeface="Cachet Pro Medium" pitchFamily="34" charset="0"/>
              </a:rPr>
              <a:t>What is </a:t>
            </a:r>
            <a:r>
              <a:rPr lang="en-GB" b="0" i="1" dirty="0" smtClean="0">
                <a:latin typeface="Cachet Pro Medium" pitchFamily="34" charset="0"/>
              </a:rPr>
              <a:t>build</a:t>
            </a:r>
            <a:r>
              <a:rPr lang="en-GB" b="0" dirty="0" smtClean="0">
                <a:latin typeface="Cachet Pro Medium" pitchFamily="34" charset="0"/>
              </a:rPr>
              <a:t>?</a:t>
            </a:r>
            <a:endParaRPr lang="en-GB" b="0" dirty="0">
              <a:latin typeface="Cachet Pro Medium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>
                <a:latin typeface="Cachet Pro Book" pitchFamily="34" charset="0"/>
              </a:rPr>
              <a:t>For application code = compile</a:t>
            </a:r>
          </a:p>
          <a:p>
            <a:r>
              <a:rPr lang="en-GB" dirty="0" smtClean="0">
                <a:latin typeface="Cachet Pro Book" pitchFamily="34" charset="0"/>
              </a:rPr>
              <a:t>For database code</a:t>
            </a:r>
            <a:r>
              <a:rPr lang="en-GB" dirty="0">
                <a:latin typeface="Cachet Pro Book" pitchFamily="34" charset="0"/>
              </a:rPr>
              <a:t> </a:t>
            </a:r>
            <a:r>
              <a:rPr lang="en-GB" dirty="0" smtClean="0">
                <a:latin typeface="Cachet Pro Book" pitchFamily="34" charset="0"/>
              </a:rPr>
              <a:t>= database creation script </a:t>
            </a:r>
          </a:p>
          <a:p>
            <a:pPr lvl="1"/>
            <a:r>
              <a:rPr lang="en-GB" dirty="0" smtClean="0">
                <a:latin typeface="Cachet Pro Book" pitchFamily="34" charset="0"/>
              </a:rPr>
              <a:t>But only for a new installation!</a:t>
            </a:r>
          </a:p>
          <a:p>
            <a:r>
              <a:rPr lang="en-GB" dirty="0" smtClean="0">
                <a:latin typeface="Cachet Pro Book" pitchFamily="34" charset="0"/>
              </a:rPr>
              <a:t>Upgrade scripts required for </a:t>
            </a:r>
            <a:r>
              <a:rPr lang="en-GB" b="1" i="1" dirty="0" smtClean="0">
                <a:latin typeface="Cachet Pro Book" pitchFamily="34" charset="0"/>
              </a:rPr>
              <a:t>existing </a:t>
            </a:r>
            <a:r>
              <a:rPr lang="en-GB" dirty="0" smtClean="0">
                <a:latin typeface="Cachet Pro Book" pitchFamily="34" charset="0"/>
              </a:rPr>
              <a:t>installations</a:t>
            </a:r>
          </a:p>
          <a:p>
            <a:pPr lvl="1"/>
            <a:r>
              <a:rPr lang="en-GB" dirty="0" smtClean="0">
                <a:latin typeface="Cachet Pro Book" pitchFamily="34" charset="0"/>
              </a:rPr>
              <a:t>Need to preserve the state of the data</a:t>
            </a:r>
            <a:endParaRPr lang="en-GB" dirty="0">
              <a:latin typeface="Cachet Pro Boo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713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0" dirty="0" smtClean="0">
                <a:latin typeface="Cachet Pro Medium" pitchFamily="34" charset="0"/>
              </a:rPr>
              <a:t>What is </a:t>
            </a:r>
            <a:r>
              <a:rPr lang="en-GB" b="0" i="1" dirty="0" smtClean="0">
                <a:latin typeface="Cachet Pro Medium" pitchFamily="34" charset="0"/>
              </a:rPr>
              <a:t>test</a:t>
            </a:r>
            <a:r>
              <a:rPr lang="en-GB" b="0" dirty="0" smtClean="0">
                <a:latin typeface="Cachet Pro Medium" pitchFamily="34" charset="0"/>
              </a:rPr>
              <a:t>?</a:t>
            </a:r>
            <a:endParaRPr lang="en-GB" b="0" dirty="0">
              <a:latin typeface="Cachet Pro Medium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>
                <a:latin typeface="Cachet Pro Book" pitchFamily="34" charset="0"/>
              </a:rPr>
              <a:t>For .NET code, </a:t>
            </a:r>
            <a:r>
              <a:rPr lang="en-GB" dirty="0" err="1" smtClean="0">
                <a:latin typeface="Cachet Pro Book" pitchFamily="34" charset="0"/>
              </a:rPr>
              <a:t>NUnit</a:t>
            </a:r>
            <a:r>
              <a:rPr lang="en-GB" dirty="0" smtClean="0">
                <a:latin typeface="Cachet Pro Book" pitchFamily="34" charset="0"/>
              </a:rPr>
              <a:t>.</a:t>
            </a:r>
          </a:p>
          <a:p>
            <a:pPr lvl="1"/>
            <a:r>
              <a:rPr lang="en-GB" dirty="0" smtClean="0">
                <a:latin typeface="Cachet Pro Book" pitchFamily="34" charset="0"/>
              </a:rPr>
              <a:t>Runs on a developer’s machine and build server</a:t>
            </a:r>
          </a:p>
          <a:p>
            <a:r>
              <a:rPr lang="en-GB" dirty="0" smtClean="0">
                <a:latin typeface="Cachet Pro Book" pitchFamily="34" charset="0"/>
              </a:rPr>
              <a:t>What about the database?</a:t>
            </a:r>
          </a:p>
          <a:p>
            <a:pPr lvl="1"/>
            <a:r>
              <a:rPr lang="en-GB" dirty="0" err="1" smtClean="0">
                <a:latin typeface="Cachet Pro Book" pitchFamily="34" charset="0"/>
              </a:rPr>
              <a:t>tSQLt</a:t>
            </a:r>
            <a:r>
              <a:rPr lang="en-GB" dirty="0" smtClean="0">
                <a:latin typeface="Cachet Pro Book" pitchFamily="34" charset="0"/>
              </a:rPr>
              <a:t> is an open source framework for testing SQL Server databases</a:t>
            </a:r>
          </a:p>
          <a:p>
            <a:pPr lvl="1"/>
            <a:r>
              <a:rPr lang="en-GB" dirty="0" smtClean="0">
                <a:latin typeface="Cachet Pro Book" pitchFamily="34" charset="0"/>
              </a:rPr>
              <a:t>SQL Test provides SSMS integration</a:t>
            </a:r>
          </a:p>
        </p:txBody>
      </p:sp>
    </p:spTree>
    <p:extLst>
      <p:ext uri="{BB962C8B-B14F-4D97-AF65-F5344CB8AC3E}">
        <p14:creationId xmlns:p14="http://schemas.microsoft.com/office/powerpoint/2010/main" val="3650877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 smtClean="0">
                <a:latin typeface="Cachet Pro Medium" pitchFamily="34" charset="0"/>
                <a:cs typeface="Cachet Pro Bold"/>
              </a:rPr>
              <a:t>Tools we will cover today</a:t>
            </a:r>
            <a:endParaRPr lang="en-GB" b="0" dirty="0">
              <a:latin typeface="Cachet Pro Medium" pitchFamily="34" charset="0"/>
              <a:cs typeface="Cachet Pro 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7258"/>
            <a:ext cx="8229600" cy="4848906"/>
          </a:xfrm>
        </p:spPr>
        <p:txBody>
          <a:bodyPr>
            <a:normAutofit/>
          </a:bodyPr>
          <a:lstStyle/>
          <a:p>
            <a:r>
              <a:rPr lang="en-GB" dirty="0" err="1" smtClean="0">
                <a:latin typeface="Cachet Pro Book" pitchFamily="34" charset="0"/>
                <a:cs typeface="Cachet Pro Book"/>
              </a:rPr>
              <a:t>TeamCity</a:t>
            </a:r>
            <a:r>
              <a:rPr lang="en-GB" dirty="0" smtClean="0">
                <a:latin typeface="Cachet Pro Book" pitchFamily="34" charset="0"/>
                <a:cs typeface="Cachet Pro Book"/>
              </a:rPr>
              <a:t> (CI tool by </a:t>
            </a:r>
            <a:r>
              <a:rPr lang="en-GB" dirty="0" err="1" smtClean="0">
                <a:latin typeface="Cachet Pro Book" pitchFamily="34" charset="0"/>
                <a:cs typeface="Cachet Pro Book"/>
              </a:rPr>
              <a:t>JetBrains</a:t>
            </a:r>
            <a:r>
              <a:rPr lang="en-GB" dirty="0" smtClean="0">
                <a:latin typeface="Cachet Pro Book" pitchFamily="34" charset="0"/>
                <a:cs typeface="Cachet Pro Book"/>
              </a:rPr>
              <a:t>)</a:t>
            </a:r>
          </a:p>
          <a:p>
            <a:r>
              <a:rPr lang="en-GB" dirty="0" smtClean="0">
                <a:latin typeface="Cachet Pro Book" pitchFamily="34" charset="0"/>
                <a:cs typeface="Cachet Pro Book"/>
              </a:rPr>
              <a:t>SQL Automation Pack (includes the Red Gate </a:t>
            </a:r>
            <a:r>
              <a:rPr lang="en-GB" dirty="0" err="1" smtClean="0">
                <a:latin typeface="Cachet Pro Book" pitchFamily="34" charset="0"/>
                <a:cs typeface="Cachet Pro Book"/>
              </a:rPr>
              <a:t>TeamCity</a:t>
            </a:r>
            <a:r>
              <a:rPr lang="en-GB" dirty="0" smtClean="0">
                <a:latin typeface="Cachet Pro Book" pitchFamily="34" charset="0"/>
                <a:cs typeface="Cachet Pro Book"/>
              </a:rPr>
              <a:t> plugin)</a:t>
            </a:r>
          </a:p>
          <a:p>
            <a:pPr marL="0" indent="0">
              <a:buNone/>
            </a:pPr>
            <a:endParaRPr lang="en-GB" dirty="0" smtClean="0">
              <a:latin typeface="Cachet Pro Book" pitchFamily="34" charset="0"/>
              <a:cs typeface="Cachet Pro Book"/>
            </a:endParaRPr>
          </a:p>
          <a:p>
            <a:pPr marL="0" indent="0">
              <a:buNone/>
            </a:pPr>
            <a:r>
              <a:rPr lang="en-GB" dirty="0" smtClean="0">
                <a:latin typeface="Cachet Pro Book" pitchFamily="34" charset="0"/>
                <a:cs typeface="Cachet Pro Book"/>
              </a:rPr>
              <a:t>From the SQL Developer Bundle:</a:t>
            </a:r>
          </a:p>
          <a:p>
            <a:r>
              <a:rPr lang="en-GB" dirty="0" smtClean="0">
                <a:latin typeface="Cachet Pro Book" pitchFamily="34" charset="0"/>
                <a:cs typeface="Cachet Pro Book"/>
              </a:rPr>
              <a:t>SQL </a:t>
            </a:r>
            <a:r>
              <a:rPr lang="en-GB" dirty="0">
                <a:latin typeface="Cachet Pro Book" pitchFamily="34" charset="0"/>
                <a:cs typeface="Cachet Pro Book"/>
              </a:rPr>
              <a:t>Source Control</a:t>
            </a:r>
          </a:p>
          <a:p>
            <a:r>
              <a:rPr lang="en-GB" dirty="0" smtClean="0">
                <a:latin typeface="Cachet Pro Book" pitchFamily="34" charset="0"/>
                <a:cs typeface="Cachet Pro Book"/>
              </a:rPr>
              <a:t>SQL Test (and </a:t>
            </a:r>
            <a:r>
              <a:rPr lang="en-GB" dirty="0" err="1" smtClean="0">
                <a:latin typeface="Cachet Pro Book" pitchFamily="34" charset="0"/>
                <a:cs typeface="Cachet Pro Book"/>
              </a:rPr>
              <a:t>tSQLt</a:t>
            </a:r>
            <a:r>
              <a:rPr lang="en-GB" dirty="0" smtClean="0">
                <a:latin typeface="Cachet Pro Book" pitchFamily="34" charset="0"/>
                <a:cs typeface="Cachet Pro Book"/>
              </a:rPr>
              <a:t>)</a:t>
            </a:r>
          </a:p>
          <a:p>
            <a:r>
              <a:rPr lang="en-GB" dirty="0" smtClean="0">
                <a:latin typeface="Cachet Pro Book" pitchFamily="34" charset="0"/>
                <a:cs typeface="Cachet Pro Book"/>
              </a:rPr>
              <a:t>SQL Data Generator</a:t>
            </a:r>
          </a:p>
          <a:p>
            <a:r>
              <a:rPr lang="en-GB" dirty="0" smtClean="0">
                <a:latin typeface="Cachet Pro Book" pitchFamily="34" charset="0"/>
                <a:cs typeface="Cachet Pro Book"/>
              </a:rPr>
              <a:t>SQL Doc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7679" y="6268780"/>
            <a:ext cx="1519255" cy="433344"/>
          </a:xfrm>
          <a:prstGeom prst="rect">
            <a:avLst/>
          </a:prstGeom>
        </p:spPr>
      </p:pic>
      <p:sp>
        <p:nvSpPr>
          <p:cNvPr id="6" name="Subtitle 4"/>
          <p:cNvSpPr txBox="1">
            <a:spLocks/>
          </p:cNvSpPr>
          <p:nvPr/>
        </p:nvSpPr>
        <p:spPr>
          <a:xfrm>
            <a:off x="7611806" y="157880"/>
            <a:ext cx="1360129" cy="409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chet Pro Book"/>
                <a:cs typeface="Cachet Pro Book"/>
              </a:rPr>
              <a:t>#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achet Pro Book"/>
                <a:cs typeface="Cachet Pro Book"/>
              </a:rPr>
              <a:t>sqlinthecity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achet Pro Book"/>
              <a:cs typeface="Cachet Pro Book"/>
            </a:endParaRPr>
          </a:p>
        </p:txBody>
      </p:sp>
    </p:spTree>
    <p:extLst>
      <p:ext uri="{BB962C8B-B14F-4D97-AF65-F5344CB8AC3E}">
        <p14:creationId xmlns:p14="http://schemas.microsoft.com/office/powerpoint/2010/main" val="1525515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 smtClean="0">
                <a:latin typeface="Cachet Pro Medium" pitchFamily="34" charset="0"/>
              </a:rPr>
              <a:t>Demo</a:t>
            </a:r>
            <a:endParaRPr lang="en-GB" b="0" dirty="0">
              <a:latin typeface="Cachet Pro Medium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 smtClean="0">
                <a:latin typeface="Cachet Pro Book" pitchFamily="34" charset="0"/>
              </a:rPr>
              <a:t>Create a project in </a:t>
            </a:r>
            <a:r>
              <a:rPr lang="en-GB" dirty="0" err="1" smtClean="0">
                <a:latin typeface="Cachet Pro Book" pitchFamily="34" charset="0"/>
              </a:rPr>
              <a:t>TeamCity</a:t>
            </a:r>
            <a:endParaRPr lang="en-GB" dirty="0" smtClean="0">
              <a:latin typeface="Cachet Pro Book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dirty="0" smtClean="0">
                <a:latin typeface="Cachet Pro Book" pitchFamily="34" charset="0"/>
              </a:rPr>
              <a:t>Keep a database up to date on every build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smtClean="0">
                <a:latin typeface="Cachet Pro Book" pitchFamily="34" charset="0"/>
              </a:rPr>
              <a:t>Run </a:t>
            </a:r>
            <a:r>
              <a:rPr lang="en-GB" dirty="0" err="1" smtClean="0">
                <a:latin typeface="Cachet Pro Book" pitchFamily="34" charset="0"/>
              </a:rPr>
              <a:t>tSQLt</a:t>
            </a:r>
            <a:r>
              <a:rPr lang="en-GB" dirty="0" smtClean="0">
                <a:latin typeface="Cachet Pro Book" pitchFamily="34" charset="0"/>
              </a:rPr>
              <a:t> tests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smtClean="0">
                <a:latin typeface="Cachet Pro Book" pitchFamily="34" charset="0"/>
              </a:rPr>
              <a:t>Generate data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smtClean="0">
                <a:latin typeface="Cachet Pro Book" pitchFamily="34" charset="0"/>
              </a:rPr>
              <a:t>Generate documentation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smtClean="0">
                <a:latin typeface="Cachet Pro Book" pitchFamily="34" charset="0"/>
              </a:rPr>
              <a:t>Generate deployment scripts</a:t>
            </a:r>
          </a:p>
          <a:p>
            <a:pPr marL="514350" indent="-514350">
              <a:buFont typeface="+mj-lt"/>
              <a:buAutoNum type="arabicPeriod"/>
            </a:pPr>
            <a:endParaRPr lang="en-GB" dirty="0" smtClean="0">
              <a:latin typeface="Cachet Pro Book" pitchFamily="34" charset="0"/>
            </a:endParaRPr>
          </a:p>
          <a:p>
            <a:pPr marL="114300" indent="0">
              <a:buNone/>
            </a:pPr>
            <a:endParaRPr lang="en-GB" dirty="0" smtClean="0">
              <a:latin typeface="Cachet Pro Boo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620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GB" b="0" dirty="0">
              <a:latin typeface="Cachet Pro Medium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600" dirty="0" smtClean="0">
                <a:latin typeface="Cachet Pro Book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124775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GB" b="0" dirty="0" smtClean="0">
                <a:latin typeface="Cachet Pro Medium" pitchFamily="34" charset="0"/>
              </a:rPr>
              <a:t>What we’ve done so far</a:t>
            </a:r>
            <a:endParaRPr lang="en-GB" b="0" dirty="0">
              <a:latin typeface="Cachet Pro Medium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GB" dirty="0" smtClean="0">
                <a:latin typeface="Cachet Pro Book" pitchFamily="34" charset="0"/>
              </a:rPr>
              <a:t>1. Created a…</a:t>
            </a:r>
          </a:p>
          <a:p>
            <a:pPr lvl="1">
              <a:buFont typeface="Arial" pitchFamily="34" charset="0"/>
              <a:buChar char="•"/>
            </a:pPr>
            <a:r>
              <a:rPr lang="en-GB" dirty="0" smtClean="0">
                <a:latin typeface="Cachet Pro Book" pitchFamily="34" charset="0"/>
              </a:rPr>
              <a:t>Project</a:t>
            </a:r>
          </a:p>
          <a:p>
            <a:pPr lvl="2">
              <a:buFont typeface="Arial" pitchFamily="34" charset="0"/>
              <a:buChar char="•"/>
            </a:pPr>
            <a:r>
              <a:rPr lang="en-GB" dirty="0" smtClean="0">
                <a:latin typeface="Cachet Pro Book" pitchFamily="34" charset="0"/>
              </a:rPr>
              <a:t>Build Configuration</a:t>
            </a:r>
          </a:p>
          <a:p>
            <a:pPr lvl="3">
              <a:buFont typeface="Arial" pitchFamily="34" charset="0"/>
              <a:buChar char="•"/>
            </a:pPr>
            <a:r>
              <a:rPr lang="en-GB" dirty="0" smtClean="0">
                <a:latin typeface="Cachet Pro Book" pitchFamily="34" charset="0"/>
              </a:rPr>
              <a:t>Build Step (Red Gate)</a:t>
            </a:r>
          </a:p>
          <a:p>
            <a:pPr marL="0" indent="0">
              <a:buNone/>
            </a:pPr>
            <a:endParaRPr lang="en-GB" dirty="0" smtClean="0">
              <a:latin typeface="Cachet Pro Book" pitchFamily="34" charset="0"/>
            </a:endParaRPr>
          </a:p>
          <a:p>
            <a:pPr marL="0" indent="0">
              <a:buNone/>
            </a:pPr>
            <a:r>
              <a:rPr lang="en-GB" dirty="0" smtClean="0">
                <a:latin typeface="Cachet Pro Book" pitchFamily="34" charset="0"/>
              </a:rPr>
              <a:t>2. Specified the VCS root URL:</a:t>
            </a:r>
          </a:p>
          <a:p>
            <a:pPr marL="0" indent="0" algn="ctr">
              <a:buNone/>
            </a:pPr>
            <a:r>
              <a:rPr lang="en-GB" dirty="0" smtClean="0">
                <a:latin typeface="Cachet Pro Book" pitchFamily="34" charset="0"/>
              </a:rPr>
              <a:t>file</a:t>
            </a:r>
            <a:r>
              <a:rPr lang="en-GB" dirty="0">
                <a:latin typeface="Cachet Pro Book" pitchFamily="34" charset="0"/>
              </a:rPr>
              <a:t>:///C:/SVN/SimpleTalk/Database</a:t>
            </a:r>
            <a:endParaRPr lang="en-GB" dirty="0" smtClean="0">
              <a:latin typeface="Cachet Pro Book" pitchFamily="34" charset="0"/>
            </a:endParaRPr>
          </a:p>
          <a:p>
            <a:pPr marL="0" indent="0">
              <a:buNone/>
            </a:pPr>
            <a:endParaRPr lang="en-GB" dirty="0" smtClean="0">
              <a:latin typeface="Cachet Pro Book" pitchFamily="34" charset="0"/>
            </a:endParaRPr>
          </a:p>
          <a:p>
            <a:pPr marL="0" indent="0">
              <a:buNone/>
            </a:pPr>
            <a:r>
              <a:rPr lang="en-GB" dirty="0" smtClean="0">
                <a:latin typeface="Cachet Pro Book" pitchFamily="34" charset="0"/>
              </a:rPr>
              <a:t>3. Added a VCS Trigger</a:t>
            </a:r>
            <a:endParaRPr lang="en-GB" dirty="0">
              <a:latin typeface="Cachet Pro Book" pitchFamily="34" charset="0"/>
            </a:endParaRPr>
          </a:p>
          <a:p>
            <a:pPr lvl="2"/>
            <a:endParaRPr lang="en-GB" dirty="0" smtClean="0">
              <a:latin typeface="Cachet Pro Book" pitchFamily="34" charset="0"/>
            </a:endParaRPr>
          </a:p>
          <a:p>
            <a:pPr marL="114300" indent="0">
              <a:buNone/>
            </a:pPr>
            <a:endParaRPr lang="en-GB" dirty="0" smtClean="0">
              <a:latin typeface="Cachet Pro Boo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253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 smtClean="0">
                <a:latin typeface="Cachet Pro Medium" pitchFamily="34" charset="0"/>
              </a:rPr>
              <a:t>Keeping a database up to date</a:t>
            </a:r>
            <a:endParaRPr lang="en-GB" b="0" dirty="0">
              <a:latin typeface="Cachet Pro Medium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>
                <a:latin typeface="Cachet Pro Book" pitchFamily="34" charset="0"/>
              </a:rPr>
              <a:t>With?</a:t>
            </a:r>
          </a:p>
          <a:p>
            <a:r>
              <a:rPr lang="en-GB" dirty="0" smtClean="0">
                <a:latin typeface="Cachet Pro Book" pitchFamily="34" charset="0"/>
              </a:rPr>
              <a:t>Schema</a:t>
            </a:r>
          </a:p>
          <a:p>
            <a:r>
              <a:rPr lang="en-GB" dirty="0" smtClean="0">
                <a:latin typeface="Cachet Pro Book" pitchFamily="34" charset="0"/>
              </a:rPr>
              <a:t>Static data</a:t>
            </a:r>
          </a:p>
          <a:p>
            <a:pPr marL="0" indent="0">
              <a:buNone/>
            </a:pPr>
            <a:endParaRPr lang="en-GB" dirty="0" smtClean="0">
              <a:latin typeface="Cachet Pro Book" pitchFamily="34" charset="0"/>
            </a:endParaRPr>
          </a:p>
          <a:p>
            <a:pPr marL="0" indent="0">
              <a:buNone/>
            </a:pPr>
            <a:r>
              <a:rPr lang="en-GB" dirty="0" smtClean="0">
                <a:latin typeface="Cachet Pro Book" pitchFamily="34" charset="0"/>
              </a:rPr>
              <a:t>Why?</a:t>
            </a:r>
          </a:p>
          <a:p>
            <a:r>
              <a:rPr lang="en-GB" dirty="0" smtClean="0">
                <a:latin typeface="Cachet Pro Book" pitchFamily="34" charset="0"/>
              </a:rPr>
              <a:t>A corresponding </a:t>
            </a:r>
            <a:r>
              <a:rPr lang="en-GB" dirty="0">
                <a:latin typeface="Cachet Pro Book" pitchFamily="34" charset="0"/>
              </a:rPr>
              <a:t>database </a:t>
            </a:r>
            <a:r>
              <a:rPr lang="en-GB" dirty="0" smtClean="0">
                <a:latin typeface="Cachet Pro Book" pitchFamily="34" charset="0"/>
              </a:rPr>
              <a:t>for the application</a:t>
            </a:r>
          </a:p>
          <a:p>
            <a:r>
              <a:rPr lang="en-GB" dirty="0" smtClean="0">
                <a:latin typeface="Cachet Pro Book" pitchFamily="34" charset="0"/>
              </a:rPr>
              <a:t>Maintaining a test database with the latest changes</a:t>
            </a:r>
            <a:endParaRPr lang="en-GB" dirty="0">
              <a:latin typeface="Cachet Pro Boo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940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GB" b="0" dirty="0">
              <a:latin typeface="Cachet Pro Medium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600" dirty="0" smtClean="0">
                <a:latin typeface="Cachet Pro Book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124775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 err="1" smtClean="0">
                <a:latin typeface="Cachet Pro Medium" pitchFamily="34" charset="0"/>
              </a:rPr>
              <a:t>tSQLt</a:t>
            </a:r>
            <a:r>
              <a:rPr lang="en-GB" b="0" dirty="0" smtClean="0">
                <a:latin typeface="Cachet Pro Medium" pitchFamily="34" charset="0"/>
              </a:rPr>
              <a:t> and SQL Test</a:t>
            </a:r>
            <a:endParaRPr lang="en-GB" b="0" dirty="0">
              <a:latin typeface="Cachet Pro Medium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 smtClean="0">
                <a:latin typeface="Cachet Pro Book" pitchFamily="34" charset="0"/>
              </a:rPr>
              <a:t>tSQLt</a:t>
            </a:r>
            <a:r>
              <a:rPr lang="en-GB" dirty="0" smtClean="0">
                <a:latin typeface="Cachet Pro Book" pitchFamily="34" charset="0"/>
              </a:rPr>
              <a:t> is (the best) free open-source unit testing framework for SQL Server</a:t>
            </a:r>
          </a:p>
          <a:p>
            <a:r>
              <a:rPr lang="en-GB" dirty="0" smtClean="0">
                <a:latin typeface="Cachet Pro Book" pitchFamily="34" charset="0"/>
              </a:rPr>
              <a:t>tSQLt.org</a:t>
            </a:r>
          </a:p>
          <a:p>
            <a:r>
              <a:rPr lang="en-GB" dirty="0" smtClean="0">
                <a:latin typeface="Cachet Pro Book" pitchFamily="34" charset="0"/>
              </a:rPr>
              <a:t>Support via </a:t>
            </a:r>
            <a:r>
              <a:rPr lang="en-GB" dirty="0" err="1" smtClean="0">
                <a:latin typeface="Cachet Pro Book" pitchFamily="34" charset="0"/>
              </a:rPr>
              <a:t>GoogleGroups</a:t>
            </a:r>
            <a:endParaRPr lang="en-GB" dirty="0" smtClean="0">
              <a:latin typeface="Cachet Pro Book" pitchFamily="34" charset="0"/>
            </a:endParaRPr>
          </a:p>
          <a:p>
            <a:r>
              <a:rPr lang="en-GB" dirty="0" smtClean="0">
                <a:latin typeface="Cachet Pro Book" pitchFamily="34" charset="0"/>
              </a:rPr>
              <a:t>Part of the SQL Developer Bundle, SQL Test provides a GUI for </a:t>
            </a:r>
            <a:r>
              <a:rPr lang="en-GB" dirty="0" err="1" smtClean="0">
                <a:latin typeface="Cachet Pro Book" pitchFamily="34" charset="0"/>
              </a:rPr>
              <a:t>tSQLt</a:t>
            </a:r>
            <a:r>
              <a:rPr lang="en-GB" dirty="0" smtClean="0">
                <a:latin typeface="Cachet Pro Book" pitchFamily="34" charset="0"/>
              </a:rPr>
              <a:t> in SSMS</a:t>
            </a:r>
            <a:endParaRPr lang="en-GB" dirty="0">
              <a:latin typeface="Cachet Pro Boo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746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124"/>
            <a:ext cx="8229600" cy="1143000"/>
          </a:xfrm>
        </p:spPr>
        <p:txBody>
          <a:bodyPr/>
          <a:lstStyle/>
          <a:p>
            <a:r>
              <a:rPr lang="en-GB" b="0" dirty="0" smtClean="0">
                <a:latin typeface="Cachet Pro Medium" pitchFamily="34" charset="0"/>
              </a:rPr>
              <a:t>Why generate test data?</a:t>
            </a:r>
            <a:endParaRPr lang="en-GB" b="0" dirty="0">
              <a:latin typeface="Cachet Pro Medium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>
                <a:latin typeface="Cachet Pro Book" pitchFamily="34" charset="0"/>
              </a:rPr>
              <a:t>Dev environments are often not realistic</a:t>
            </a:r>
          </a:p>
          <a:p>
            <a:r>
              <a:rPr lang="en-GB" dirty="0" smtClean="0">
                <a:latin typeface="Cachet Pro Book" pitchFamily="34" charset="0"/>
              </a:rPr>
              <a:t>Getting production data not always possible</a:t>
            </a:r>
          </a:p>
          <a:p>
            <a:r>
              <a:rPr lang="en-GB" dirty="0" smtClean="0">
                <a:latin typeface="Cachet Pro Book" pitchFamily="34" charset="0"/>
              </a:rPr>
              <a:t>Random data can result in surprises</a:t>
            </a:r>
          </a:p>
          <a:p>
            <a:r>
              <a:rPr lang="en-GB" dirty="0" smtClean="0">
                <a:latin typeface="Cachet Pro Book" pitchFamily="34" charset="0"/>
              </a:rPr>
              <a:t>Volume testing</a:t>
            </a:r>
          </a:p>
        </p:txBody>
      </p:sp>
    </p:spTree>
    <p:extLst>
      <p:ext uri="{BB962C8B-B14F-4D97-AF65-F5344CB8AC3E}">
        <p14:creationId xmlns:p14="http://schemas.microsoft.com/office/powerpoint/2010/main" val="2485431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GB" b="0" dirty="0">
              <a:latin typeface="Cachet Pro Medium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600" dirty="0" smtClean="0">
                <a:latin typeface="Cachet Pro Book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443998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0" dirty="0" smtClean="0">
                <a:latin typeface="Cachet Pro Medium" pitchFamily="34" charset="0"/>
              </a:rPr>
              <a:t>Two bugs found by SQL Data Generator</a:t>
            </a:r>
            <a:endParaRPr lang="en-GB" b="0" dirty="0">
              <a:latin typeface="Cachet Pro Medium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 smtClean="0">
                <a:latin typeface="Cachet Pro Book" pitchFamily="34" charset="0"/>
              </a:rPr>
              <a:t>NULL Dates</a:t>
            </a:r>
          </a:p>
          <a:p>
            <a:pPr lvl="1"/>
            <a:r>
              <a:rPr lang="en-GB" dirty="0" smtClean="0">
                <a:latin typeface="Cachet Pro Book" pitchFamily="34" charset="0"/>
              </a:rPr>
              <a:t>App code assumed [Date] wouldn’t be NULL</a:t>
            </a:r>
          </a:p>
          <a:p>
            <a:pPr lvl="1"/>
            <a:r>
              <a:rPr lang="en-GB" dirty="0" smtClean="0">
                <a:latin typeface="Cachet Pro Book" pitchFamily="34" charset="0"/>
              </a:rPr>
              <a:t>SQL Data Generator didn’t</a:t>
            </a:r>
          </a:p>
          <a:p>
            <a:pPr lvl="1"/>
            <a:r>
              <a:rPr lang="en-GB" dirty="0" smtClean="0">
                <a:latin typeface="Cachet Pro Book" pitchFamily="34" charset="0"/>
              </a:rPr>
              <a:t>Fix was to change [Date] to be NOT NULL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smtClean="0">
                <a:latin typeface="Cachet Pro Book" pitchFamily="34" charset="0"/>
              </a:rPr>
              <a:t> Performance of </a:t>
            </a:r>
            <a:r>
              <a:rPr lang="en-GB" dirty="0" err="1" smtClean="0">
                <a:latin typeface="Cachet Pro Book" pitchFamily="34" charset="0"/>
              </a:rPr>
              <a:t>v_Articles</a:t>
            </a:r>
            <a:endParaRPr lang="en-GB" dirty="0" smtClean="0">
              <a:latin typeface="Cachet Pro Book" pitchFamily="34" charset="0"/>
            </a:endParaRPr>
          </a:p>
          <a:p>
            <a:pPr marL="914400" lvl="1" indent="-514350"/>
            <a:r>
              <a:rPr lang="en-GB" dirty="0" smtClean="0">
                <a:latin typeface="Cachet Pro Book" pitchFamily="34" charset="0"/>
              </a:rPr>
              <a:t>Test passed on </a:t>
            </a:r>
            <a:r>
              <a:rPr lang="en-GB" dirty="0" err="1" smtClean="0">
                <a:latin typeface="Cachet Pro Book" pitchFamily="34" charset="0"/>
              </a:rPr>
              <a:t>dev</a:t>
            </a:r>
            <a:r>
              <a:rPr lang="en-GB" dirty="0" smtClean="0">
                <a:latin typeface="Cachet Pro Book" pitchFamily="34" charset="0"/>
              </a:rPr>
              <a:t> box</a:t>
            </a:r>
          </a:p>
          <a:p>
            <a:pPr marL="914400" lvl="1" indent="-514350"/>
            <a:r>
              <a:rPr lang="en-GB" dirty="0" smtClean="0">
                <a:latin typeface="Cachet Pro Book" pitchFamily="34" charset="0"/>
              </a:rPr>
              <a:t>Failed in more “realistic” CI environment</a:t>
            </a:r>
            <a:endParaRPr lang="en-GB" dirty="0">
              <a:latin typeface="Cachet Pro Book" pitchFamily="34" charset="0"/>
            </a:endParaRPr>
          </a:p>
          <a:p>
            <a:endParaRPr lang="en-GB" dirty="0" smtClean="0">
              <a:latin typeface="Cachet Pro Boo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401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GB" b="0" dirty="0">
              <a:latin typeface="Cachet Pro Medium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600" dirty="0" smtClean="0">
                <a:latin typeface="Cachet Pro Book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124775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0" dirty="0" smtClean="0">
                <a:latin typeface="Cachet Pro Medium" pitchFamily="34" charset="0"/>
              </a:rPr>
              <a:t>Generate SQL Documentation</a:t>
            </a:r>
            <a:endParaRPr lang="en-GB" b="0" dirty="0">
              <a:latin typeface="Cachet Pro Medium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>
                <a:latin typeface="Cachet Pro Book" pitchFamily="34" charset="0"/>
              </a:rPr>
              <a:t>An up-to-date resource</a:t>
            </a:r>
          </a:p>
          <a:p>
            <a:pPr lvl="1"/>
            <a:r>
              <a:rPr lang="en-GB" dirty="0" smtClean="0">
                <a:latin typeface="Cachet Pro Book" pitchFamily="34" charset="0"/>
              </a:rPr>
              <a:t>For Developers</a:t>
            </a:r>
          </a:p>
          <a:p>
            <a:pPr lvl="1"/>
            <a:r>
              <a:rPr lang="en-GB" dirty="0" smtClean="0">
                <a:latin typeface="Cachet Pro Book" pitchFamily="34" charset="0"/>
              </a:rPr>
              <a:t>DBAs</a:t>
            </a:r>
          </a:p>
          <a:p>
            <a:pPr lvl="1"/>
            <a:r>
              <a:rPr lang="en-GB" dirty="0" smtClean="0">
                <a:latin typeface="Cachet Pro Book" pitchFamily="34" charset="0"/>
              </a:rPr>
              <a:t>Business Analysts</a:t>
            </a:r>
          </a:p>
          <a:p>
            <a:pPr marL="514350" indent="-514350">
              <a:buFont typeface="+mj-lt"/>
              <a:buAutoNum type="arabicPeriod"/>
            </a:pPr>
            <a:endParaRPr lang="en-GB" dirty="0" smtClean="0">
              <a:latin typeface="Cachet Pro Book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GB" dirty="0">
              <a:latin typeface="Cachet Pro Book" pitchFamily="34" charset="0"/>
            </a:endParaRPr>
          </a:p>
          <a:p>
            <a:endParaRPr lang="en-GB" dirty="0" smtClean="0">
              <a:latin typeface="Cachet Pro Boo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234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0" dirty="0" smtClean="0">
                <a:latin typeface="Cachet Pro Medium" pitchFamily="34" charset="0"/>
              </a:rPr>
              <a:t>Deployments Scripts</a:t>
            </a:r>
            <a:endParaRPr lang="en-GB" b="0" dirty="0">
              <a:latin typeface="Cachet Pro Medium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>
                <a:latin typeface="Cachet Pro Book" pitchFamily="34" charset="0"/>
              </a:rPr>
              <a:t>Creation scripts </a:t>
            </a:r>
          </a:p>
          <a:p>
            <a:pPr lvl="1"/>
            <a:r>
              <a:rPr lang="en-GB" dirty="0" smtClean="0">
                <a:latin typeface="Cachet Pro Book" pitchFamily="34" charset="0"/>
              </a:rPr>
              <a:t>For new installations</a:t>
            </a:r>
          </a:p>
          <a:p>
            <a:r>
              <a:rPr lang="en-GB" dirty="0" smtClean="0">
                <a:latin typeface="Cachet Pro Book" pitchFamily="34" charset="0"/>
              </a:rPr>
              <a:t>Upgrade Scripts </a:t>
            </a:r>
          </a:p>
          <a:p>
            <a:pPr lvl="1"/>
            <a:r>
              <a:rPr lang="en-GB" dirty="0" smtClean="0">
                <a:latin typeface="Cachet Pro Book" pitchFamily="34" charset="0"/>
              </a:rPr>
              <a:t>For existing installations</a:t>
            </a:r>
          </a:p>
          <a:p>
            <a:pPr lvl="1"/>
            <a:r>
              <a:rPr lang="en-GB" dirty="0" smtClean="0">
                <a:latin typeface="Cachet Pro Book" pitchFamily="34" charset="0"/>
              </a:rPr>
              <a:t>Requires Deployment Manager</a:t>
            </a:r>
          </a:p>
          <a:p>
            <a:pPr lvl="1"/>
            <a:endParaRPr lang="en-GB" dirty="0" smtClean="0">
              <a:latin typeface="Cachet Pro Book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GB" dirty="0" smtClean="0">
              <a:latin typeface="Cachet Pro Book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GB" dirty="0">
              <a:latin typeface="Cachet Pro Book" pitchFamily="34" charset="0"/>
            </a:endParaRPr>
          </a:p>
          <a:p>
            <a:endParaRPr lang="en-GB" dirty="0" smtClean="0">
              <a:latin typeface="Cachet Pro Boo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890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GB" b="0" dirty="0">
              <a:latin typeface="Cachet Pro Medium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600" dirty="0" smtClean="0">
                <a:latin typeface="Cachet Pro Book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124775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 smtClean="0">
                <a:latin typeface="Cachet Pro Medium" pitchFamily="34" charset="0"/>
                <a:cs typeface="Cachet Pro Bold"/>
              </a:rPr>
              <a:t>Summary</a:t>
            </a:r>
            <a:endParaRPr lang="en-GB" b="0" dirty="0">
              <a:latin typeface="Cachet Pro Medium" pitchFamily="34" charset="0"/>
              <a:cs typeface="Cachet Pro 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>
                <a:latin typeface="Cachet Pro Book" pitchFamily="34" charset="0"/>
                <a:cs typeface="Cachet Pro Book"/>
              </a:rPr>
              <a:t>Why and how to put automated database build and test in place</a:t>
            </a:r>
          </a:p>
          <a:p>
            <a:r>
              <a:rPr lang="en-GB" dirty="0" smtClean="0">
                <a:latin typeface="Cachet Pro Book" pitchFamily="34" charset="0"/>
                <a:cs typeface="Cachet Pro Book"/>
              </a:rPr>
              <a:t>Overview of the tools required</a:t>
            </a:r>
          </a:p>
          <a:p>
            <a:r>
              <a:rPr lang="en-GB" dirty="0" smtClean="0">
                <a:latin typeface="Cachet Pro Book" pitchFamily="34" charset="0"/>
                <a:cs typeface="Cachet Pro Book"/>
              </a:rPr>
              <a:t>Can be set up in less than an hour!</a:t>
            </a:r>
            <a:endParaRPr lang="en-GB" dirty="0">
              <a:latin typeface="Cachet Pro Book" pitchFamily="34" charset="0"/>
              <a:cs typeface="Cachet Pro Book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679" y="6268780"/>
            <a:ext cx="1519255" cy="433344"/>
          </a:xfrm>
          <a:prstGeom prst="rect">
            <a:avLst/>
          </a:prstGeom>
        </p:spPr>
      </p:pic>
      <p:sp>
        <p:nvSpPr>
          <p:cNvPr id="6" name="Subtitle 4"/>
          <p:cNvSpPr txBox="1">
            <a:spLocks/>
          </p:cNvSpPr>
          <p:nvPr/>
        </p:nvSpPr>
        <p:spPr>
          <a:xfrm>
            <a:off x="7611806" y="157880"/>
            <a:ext cx="1360129" cy="409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chet Pro Book"/>
                <a:cs typeface="Cachet Pro Book"/>
              </a:rPr>
              <a:t>#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achet Pro Book"/>
                <a:cs typeface="Cachet Pro Book"/>
              </a:rPr>
              <a:t>sqlinthecity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achet Pro Book"/>
              <a:cs typeface="Cachet Pro Book"/>
            </a:endParaRPr>
          </a:p>
        </p:txBody>
      </p:sp>
    </p:spTree>
    <p:extLst>
      <p:ext uri="{BB962C8B-B14F-4D97-AF65-F5344CB8AC3E}">
        <p14:creationId xmlns:p14="http://schemas.microsoft.com/office/powerpoint/2010/main" val="2199104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171" y="5135088"/>
            <a:ext cx="1260430" cy="1008344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80" y="120947"/>
            <a:ext cx="4042389" cy="5728270"/>
          </a:xfrm>
          <a:prstGeom prst="rect">
            <a:avLst/>
          </a:prstGeom>
          <a:noFill/>
          <a:ln>
            <a:noFill/>
          </a:ln>
          <a:effectLst>
            <a:outerShdw blurRad="139700" dist="38100" dir="2700000" sx="101000" sy="101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057192" y="602445"/>
            <a:ext cx="37719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rgbClr val="FF0000"/>
                </a:solidFill>
                <a:latin typeface="Cachet Pro Book" pitchFamily="34" charset="0"/>
              </a:rPr>
              <a:t>Latest version at :</a:t>
            </a:r>
          </a:p>
          <a:p>
            <a:r>
              <a:rPr lang="en-GB" sz="2800" dirty="0" smtClean="0">
                <a:latin typeface="Cachet Pro Book" pitchFamily="34" charset="0"/>
              </a:rPr>
              <a:t>www.red-gate.com/CI</a:t>
            </a:r>
          </a:p>
          <a:p>
            <a:endParaRPr lang="en-GB" sz="2800" dirty="0" smtClean="0">
              <a:latin typeface="Cachet Pro Book" pitchFamily="34" charset="0"/>
            </a:endParaRPr>
          </a:p>
          <a:p>
            <a:r>
              <a:rPr lang="en-GB" sz="2800" dirty="0" smtClean="0">
                <a:latin typeface="Cachet Pro Book" pitchFamily="34" charset="0"/>
              </a:rPr>
              <a:t>“Migrations” Focus Group at 14:45 in the Congress Suites</a:t>
            </a:r>
            <a:endParaRPr lang="en-GB" sz="2800" dirty="0">
              <a:latin typeface="Cachet Pro Book" pitchFamily="34" charset="0"/>
            </a:endParaRPr>
          </a:p>
          <a:p>
            <a:endParaRPr lang="en-GB" sz="2800" dirty="0" smtClean="0">
              <a:latin typeface="Cachet Pro Book" pitchFamily="34" charset="0"/>
            </a:endParaRPr>
          </a:p>
          <a:p>
            <a:endParaRPr lang="en-GB" sz="2800" dirty="0" smtClean="0">
              <a:latin typeface="Cachet Pro Book" pitchFamily="34" charset="0"/>
            </a:endParaRPr>
          </a:p>
          <a:p>
            <a:pPr algn="ctr"/>
            <a:r>
              <a:rPr lang="en-GB" sz="4000" dirty="0" smtClean="0">
                <a:solidFill>
                  <a:srgbClr val="006600"/>
                </a:solidFill>
                <a:latin typeface="Cachet Pro Book" pitchFamily="34" charset="0"/>
              </a:rPr>
              <a:t>Questions?</a:t>
            </a:r>
            <a:endParaRPr lang="en-GB" sz="4000" dirty="0">
              <a:solidFill>
                <a:srgbClr val="006600"/>
              </a:solidFill>
              <a:latin typeface="Cachet Pro Book" pitchFamily="34" charset="0"/>
            </a:endParaRPr>
          </a:p>
          <a:p>
            <a:endParaRPr lang="en-GB" sz="2800" dirty="0">
              <a:latin typeface="Cachet Pro Book" pitchFamily="34" charset="0"/>
            </a:endParaRPr>
          </a:p>
        </p:txBody>
      </p:sp>
      <p:sp>
        <p:nvSpPr>
          <p:cNvPr id="9" name="Subtitle 4"/>
          <p:cNvSpPr txBox="1">
            <a:spLocks/>
          </p:cNvSpPr>
          <p:nvPr/>
        </p:nvSpPr>
        <p:spPr>
          <a:xfrm>
            <a:off x="7611806" y="157880"/>
            <a:ext cx="1360129" cy="409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chet Pro Book"/>
                <a:cs typeface="Cachet Pro Book"/>
              </a:rPr>
              <a:t>#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achet Pro Book"/>
                <a:cs typeface="Cachet Pro Book"/>
              </a:rPr>
              <a:t>sqlinthecity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achet Pro Book"/>
              <a:cs typeface="Cachet Pro Book"/>
            </a:endParaRPr>
          </a:p>
        </p:txBody>
      </p:sp>
    </p:spTree>
    <p:extLst>
      <p:ext uri="{BB962C8B-B14F-4D97-AF65-F5344CB8AC3E}">
        <p14:creationId xmlns:p14="http://schemas.microsoft.com/office/powerpoint/2010/main" val="3351344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F7g9rDm1EcCnKUZZt8Qkw"/>
</p:tagLst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13758</TotalTime>
  <Words>759</Words>
  <Application>Microsoft Office PowerPoint</Application>
  <PresentationFormat>On-screen Show (4:3)</PresentationFormat>
  <Paragraphs>158</Paragraphs>
  <Slides>24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Default Theme</vt:lpstr>
      <vt:lpstr>Automated Build and Test </vt:lpstr>
      <vt:lpstr>Goals</vt:lpstr>
      <vt:lpstr>Where does testing happen?</vt:lpstr>
      <vt:lpstr>Testing in Development</vt:lpstr>
      <vt:lpstr>PowerPoint Presentation</vt:lpstr>
      <vt:lpstr>Database Continuous Integration</vt:lpstr>
      <vt:lpstr>What is build?</vt:lpstr>
      <vt:lpstr>What is test?</vt:lpstr>
      <vt:lpstr>Tools we will cover today</vt:lpstr>
      <vt:lpstr>Demo</vt:lpstr>
      <vt:lpstr>PowerPoint Presentation</vt:lpstr>
      <vt:lpstr>What we’ve done so far</vt:lpstr>
      <vt:lpstr>Keeping a database up to date</vt:lpstr>
      <vt:lpstr>PowerPoint Presentation</vt:lpstr>
      <vt:lpstr>tSQLt and SQL Test</vt:lpstr>
      <vt:lpstr>Why generate test data?</vt:lpstr>
      <vt:lpstr>PowerPoint Presentation</vt:lpstr>
      <vt:lpstr>Two bugs found by SQL Data Generator</vt:lpstr>
      <vt:lpstr>PowerPoint Presentation</vt:lpstr>
      <vt:lpstr>Generate SQL Documentation</vt:lpstr>
      <vt:lpstr>Deployments Scripts</vt:lpstr>
      <vt:lpstr>PowerPoint Presentation</vt:lpstr>
      <vt:lpstr>Summary</vt:lpstr>
      <vt:lpstr>PowerPoint Presentation</vt:lpstr>
    </vt:vector>
  </TitlesOfParts>
  <Company>Red Gate Software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Title</dc:title>
  <dc:creator>Matthew Tye</dc:creator>
  <cp:lastModifiedBy>David Atkinson</cp:lastModifiedBy>
  <cp:revision>122</cp:revision>
  <dcterms:created xsi:type="dcterms:W3CDTF">2011-06-22T09:06:31Z</dcterms:created>
  <dcterms:modified xsi:type="dcterms:W3CDTF">2013-07-02T09:56:18Z</dcterms:modified>
</cp:coreProperties>
</file>